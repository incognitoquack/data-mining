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BD804F-A728-4808-8E40-431CF9F7B2A7}">
  <a:tblStyle styleId="{32BD804F-A728-4808-8E40-431CF9F7B2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1" Type="http://schemas.openxmlformats.org/officeDocument/2006/relationships/image" Target="../media/image9.png"/><Relationship Id="rId10" Type="http://schemas.openxmlformats.org/officeDocument/2006/relationships/image" Target="../media/image14.png"/><Relationship Id="rId12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62150" y="2193726"/>
            <a:ext cx="826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DATA MINING UNIT 2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55457" y="2641401"/>
            <a:ext cx="868108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Apriori Algorithm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Market Basket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62150" y="4340423"/>
            <a:ext cx="8267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Mining Frequent Itemsets and Association Rules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345656" y="1652587"/>
            <a:ext cx="5500687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Foundational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Concepts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381625" y="4319587"/>
            <a:ext cx="142875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476625" y="47577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Understanding the "What" and "Why" of Association Rules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28912"/>
            <a:ext cx="50482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28912"/>
            <a:ext cx="50482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143000" y="3109912"/>
            <a:ext cx="45005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43000" y="3386137"/>
            <a:ext cx="4286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data mining technique used to uncover relationships between items. It identifies which products are frequently purchased together based on transaction history.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62750" y="3109912"/>
            <a:ext cx="45005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Value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62750" y="3386137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Allows retailers to optimize store layouts, design cross-selling marketing campaigns, and develop personalized recommendation engines.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WHAT IS MARKET BASKET ANALYSIS?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90775"/>
            <a:ext cx="33654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90775"/>
            <a:ext cx="33654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90775"/>
            <a:ext cx="33654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9737" y="4810125"/>
            <a:ext cx="14699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4244" y="4810125"/>
            <a:ext cx="19033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9807" y="4810125"/>
            <a:ext cx="161448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849576" y="3514725"/>
            <a:ext cx="119014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Support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52525" y="4057650"/>
            <a:ext cx="258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Frequency of itemsets in the dataset.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250745" y="3514725"/>
            <a:ext cx="16902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Confidence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803725" y="4057650"/>
            <a:ext cx="258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Likelihood B is bought if A is bought.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2023" y="3514725"/>
            <a:ext cx="4500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Lift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54925" y="4057650"/>
            <a:ext cx="258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Ratio of actual support to expected support.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44625" y="28289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251" y="2828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89876" y="28289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THREE CORE METRICS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2667000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Downward Closure Property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29432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Any subset of a frequent itemset must be frequent. If an itemset is infrequent, all its supersets will also be infrequent.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67000"/>
            <a:ext cx="2028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143000" y="37052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Prunes the search space effectively.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143000" y="42005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Minimizes database scans.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43000" y="46958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Ensures computational efficiency.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48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43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386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APRIORI PROPERTY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3865721" y="1652587"/>
            <a:ext cx="4460557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Apriori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Process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381625" y="4319587"/>
            <a:ext cx="142875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971925" y="4757737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Step-by-Step Implementation 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9"/>
          <p:cNvGraphicFramePr/>
          <p:nvPr/>
        </p:nvGraphicFramePr>
        <p:xfrm>
          <a:off x="762000" y="885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{32BD804F-A728-4808-8E40-431CF9F7B2A7}</a:tableStyleId>
              </a:tblPr>
              <a:tblGrid>
                <a:gridCol w="3108425"/>
                <a:gridCol w="7559575"/>
              </a:tblGrid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Items Purchased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I2, I5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I2, I4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T300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I2, I3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I2, I4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T600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I2, I3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T700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I2, I3, I5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I1, I2, I3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9"/>
          <p:cNvSpPr/>
          <p:nvPr/>
        </p:nvSpPr>
        <p:spPr>
          <a:xfrm>
            <a:off x="762000" y="2157412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870424" y="2157412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62000" y="2757487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870424" y="2757487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762000" y="3357562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70424" y="3357562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62000" y="3957637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870424" y="3957637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62000" y="4557712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870424" y="4557712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62000" y="5157787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870424" y="5157787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62000" y="5757862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870424" y="5757862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762000" y="6357937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870424" y="6357937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62000" y="6958012"/>
            <a:ext cx="3108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870424" y="6958012"/>
            <a:ext cx="7559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-1143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SAMPLE TRANSACTION DATABASE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762000" y="-1143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62125"/>
            <a:ext cx="1066800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50863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Note: Assuming Minimum Support Threshold = 2. All items pass the initial scan.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SCAN 1: ITEM FREQUENCY (L1)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762000" y="391001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895350" y="4224337"/>
            <a:ext cx="2400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Candidate Generation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52500" y="4500562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Self-join items to create pairs (Ck).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3562350" y="4224337"/>
            <a:ext cx="2400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Pruning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3619500" y="4500562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Remove candidates with infrequent subsets.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229350" y="4224337"/>
            <a:ext cx="2400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Support Counting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286500" y="4500562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Scan DB to count frequency of candidates.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896350" y="4224337"/>
            <a:ext cx="2400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Termination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953500" y="4500562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Repeat until no more frequent itemsets found.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ALGORITHMIC LIFECYCLE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905000" y="35575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572000" y="35575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239000" y="35575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9906000" y="35575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62000" y="45624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Results indicate that customers buying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I1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have a high probability of buying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I2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 well.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62000" y="2847975"/>
            <a:ext cx="35559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66%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62000" y="3895725"/>
            <a:ext cx="3555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Confidence: {I1} → {I2}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317950" y="2847975"/>
            <a:ext cx="35559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1.2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317950" y="3895725"/>
            <a:ext cx="3555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Lift: {I1, I2}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873900" y="2847975"/>
            <a:ext cx="35559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873900" y="3895725"/>
            <a:ext cx="3555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Frequent Support Count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52500" y="7620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STRONG ASSOCIATION RULES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762000" y="762000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952500" y="762000"/>
            <a:ext cx="46005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 WORLD APPLICATION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762000" y="762000"/>
            <a:ext cx="76200" cy="1047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62000" y="22860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E-Commerce &amp; Retail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2562225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Apriori is the backbone of recommendation engines. From Amazon's "Customers who bought this also bought" to Netflix's genre mapping, the algorithm powers personalized experiences.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1143000" y="39338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Layout Optimization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143000" y="44291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Discount Bundling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143000" y="49244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Fraud Detection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76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71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9672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3920728" y="2243137"/>
            <a:ext cx="43505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024312" y="3386137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Mining: Unit 2 - Apriori Algorithm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024312" y="4167187"/>
            <a:ext cx="414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
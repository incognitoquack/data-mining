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6F0CEE-5C99-4C64-BC93-8C63AD24468D}">
  <a:tblStyle styleId="{D56F0CEE-5C99-4C64-BC93-8C63AD24468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15564" y="2263080"/>
            <a:ext cx="696087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Preprocessing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81300" y="3291780"/>
            <a:ext cx="66294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Transforming Raw Data into Quality Insights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81300" y="4289970"/>
            <a:ext cx="662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Unit 1: Data Mining and Analytics • CSE-355T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270968"/>
            <a:ext cx="114300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5276" y="2632918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Foundation of Knowledge Discovery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14144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why cleaning and preparing data is the most critical step in the entire machine learning pipeline.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6855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88023"/>
            <a:ext cx="522922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2509837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Definition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81025" y="2987873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essential process of cleaning, transforming, and organizing raw, "messy" data into a high-quality, usable format for mining.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98685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19150" y="4426148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Golden Rule: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4730948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"Garbage In → Garbage Out"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What is Data Preprocessing?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1025" y="581025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76475"/>
            <a:ext cx="3486150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76475"/>
            <a:ext cx="3486150" cy="3230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76475"/>
            <a:ext cx="3486150" cy="3230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971550" y="3419475"/>
            <a:ext cx="284035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Quality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71550" y="3897510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Real-world data is inherently incomplete, inconsistent, and contains errors or outliers.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743450" y="3419475"/>
            <a:ext cx="284035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Performance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43450" y="3897510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Clean data reduces computational overhead and allows algorithms to converge faster.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15350" y="3419475"/>
            <a:ext cx="284035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Accuracy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15350" y="3897510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Reliable models require reliable inputs. Small errors at the start lead to large errors at the finish.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7146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27146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7146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Why Preprocessing is Critical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81025" y="581025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06735"/>
            <a:ext cx="11029950" cy="477023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81025" y="521583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Industry surveys consistently show that the majority of a data project's lifecycle is spent on preparation.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Data Science Time Allocation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81025" y="581025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62237"/>
            <a:ext cx="5324475" cy="2459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62237"/>
            <a:ext cx="5324475" cy="24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971550" y="3052762"/>
            <a:ext cx="4770596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8577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Missing Values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677025" y="3052762"/>
            <a:ext cx="4770596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2387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Noisy Data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05276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971550" y="3530798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Ignore the tuple (row)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71550" y="3930848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Fill manually (tedious)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71550" y="4330898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Fill with Mean or Median</a:t>
            </a:r>
            <a:endParaRPr/>
          </a:p>
        </p:txBody>
      </p:sp>
      <p:pic>
        <p:nvPicPr>
          <p:cNvPr descr="image.png" id="151" name="Google Shape;15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05276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6677025" y="3530798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Binning (Smoothing by means)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77025" y="3930848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Regression (Fitting curves)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677025" y="4330898"/>
            <a:ext cx="454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Outlier Analysis (Clustering)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Task 1: Data Cleaning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81025" y="581025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685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1025" y="20764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Merging data from multiple sources (Databases, Spreadsheets, APIs) into a consistent data store.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81025" y="2971800"/>
            <a:ext cx="5490686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Key Issues: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8685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81025" y="344983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Entity Identification: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Matching "Cust_ID" to "Account_No".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81025" y="420231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Redundancy: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Finding duplicate attributes using correlation analysis.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81025" y="495478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Data Conflicts: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Resolving different units (Metric vs. Imperial).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Task 2: Data Integration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81025" y="581025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97000"/>
            <a:ext cx="5229225" cy="33897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57462"/>
            <a:ext cx="5229225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865661"/>
            <a:ext cx="1828800" cy="114002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971550" y="2587525"/>
            <a:ext cx="467058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Normalization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71550" y="3065561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Scaling attributes to fall within a small, specific range like 0 to 1.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772275" y="2947987"/>
            <a:ext cx="4670583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Discretization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772275" y="3426023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Replacing raw numeric values with interval labels or conceptual levels.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772275" y="4226123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772275" y="4530923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Age: 0-100 → {Child, Teen, Adult, Senior}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266825" y="4160936"/>
            <a:ext cx="12382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Z-Score Formula: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6825" y="4701095"/>
            <a:ext cx="585489" cy="20775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Task 3: Data Transformation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81025" y="581025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962025" y="935533"/>
            <a:ext cx="4590573" cy="1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Task 4: Data Reduction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771525" y="935533"/>
            <a:ext cx="57150" cy="1089421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771525" y="240595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Reducing the volume of data while producing the same (or nearly the same) analytical results.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71525" y="3206055"/>
            <a:ext cx="4790598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Main Strategies: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771525" y="3684091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Dimensionality: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Removing redundant features (e.g., PCA).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771525" y="4436566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Numerosity: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Replacing data with smaller models or samples.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771525" y="5189041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Compression: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Encoding techniques (Lossy/Lossless).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22"/>
          <p:cNvGraphicFramePr/>
          <p:nvPr/>
        </p:nvGraphicFramePr>
        <p:xfrm>
          <a:off x="581025" y="2510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{D56F0CEE-5C99-4C64-BC93-8C63AD24468D}</a:tableStyleId>
              </a:tblPr>
              <a:tblGrid>
                <a:gridCol w="2683375"/>
                <a:gridCol w="4931125"/>
                <a:gridCol w="3415450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Technique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Cleaning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Fixing errors and missing values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Binning, Mean Filling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Merging heterogeneous sources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Correlation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Transformation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Normalizing and 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Min-Max 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Reduction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Shrinking dataset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Sampling, PCA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2"/>
          <p:cNvSpPr/>
          <p:nvPr/>
        </p:nvSpPr>
        <p:spPr>
          <a:xfrm>
            <a:off x="581025" y="3706117"/>
            <a:ext cx="26833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264396" y="3706117"/>
            <a:ext cx="49311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8195518" y="3706117"/>
            <a:ext cx="34154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81025" y="4287142"/>
            <a:ext cx="26833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264396" y="4287142"/>
            <a:ext cx="49311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8195518" y="4287142"/>
            <a:ext cx="34154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81025" y="4868167"/>
            <a:ext cx="26833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264396" y="4868167"/>
            <a:ext cx="49311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8195518" y="4868167"/>
            <a:ext cx="34154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81025" y="5449192"/>
            <a:ext cx="26833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264396" y="5449192"/>
            <a:ext cx="493112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8195518" y="5449192"/>
            <a:ext cx="34154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771525" y="581025"/>
            <a:ext cx="11381422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Summary Comparison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81025" y="581025"/>
            <a:ext cx="57150" cy="54471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595437" y="2030759"/>
            <a:ext cx="900112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809750" y="3166020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"Data preprocessing is not just a preliminary step; it is the most critical part of the data mining process. Clean data is the foundation of great insights."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